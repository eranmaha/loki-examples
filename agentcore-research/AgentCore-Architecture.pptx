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9900"/>
                </a:solidFill>
              </a:defRPr>
            </a:pPr>
            <a:r>
              <a:t>Building Multi-Agent Systems</a:t>
            </a:r>
            <a:br/>
            <a:r>
              <a:t>with Amazon Bedrock AgentCore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8B98A5"/>
                </a:solidFill>
              </a:defRPr>
            </a:pPr>
            <a:r>
              <a:t>Agentic Architecture • Multi-Agent Patterns • 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8B98A5"/>
                </a:solidFill>
              </a:defRPr>
            </a:pPr>
            <a:r>
              <a:t>AWS Agent Hub Demo Project</a:t>
            </a:r>
          </a:p>
          <a:p>
            <a:pPr>
              <a:spcAft>
                <a:spcPts val="800"/>
              </a:spcAft>
              <a:defRPr sz="1600">
                <a:solidFill>
                  <a:srgbClr val="8B98A5"/>
                </a:solidFill>
              </a:defRPr>
            </a:pPr>
            <a:r>
              <a:t>Powered by Strands Agents Framework + Bedrock AgentCore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Amazon Bedrock AgentCore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8B98A5"/>
                </a:solidFill>
              </a:defRPr>
            </a:pPr>
            <a:r>
              <a:t>Fully managed runtime for deploying, scaling, and observing AI agents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🚀  Managed Runtime — Deploy agents without managing infrastructure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📊  Built-in Observability — OpenTelemetry traces, CloudWatch metrics &amp; logs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🔐  IAM Integration — Fine-grained access control per agent runtime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⚡  Auto-scaling — Handles cold starts and burst traffic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🔗  Session Management — Stateful conversations with session IDs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🌐  VPC &amp; Public modes — Deploy inside VPC or public-facing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3657600" cy="91440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AgentCore Runtime</a:t>
            </a:r>
            <a:br/>
            <a:r>
              <a:t>(Managed Container)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017520"/>
            <a:ext cx="3657600" cy="914400"/>
          </a:xfrm>
          <a:prstGeom prst="round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OpenTelemetry</a:t>
            </a:r>
            <a:br/>
            <a:r>
              <a:t>Traces + Spans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206240"/>
            <a:ext cx="3657600" cy="914400"/>
          </a:xfrm>
          <a:prstGeom prst="round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CloudWatch</a:t>
            </a:r>
            <a:br/>
            <a:r>
              <a:t>Gen AI 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1A88D"/>
                </a:solidFill>
              </a:defRPr>
            </a:pPr>
            <a:r>
              <a:t>Key differentiator: Production-grade observability out of the box</a:t>
            </a:r>
          </a:p>
          <a:p>
            <a:pPr>
              <a:spcAft>
                <a:spcPts val="800"/>
              </a:spcAft>
              <a:defRPr sz="1400">
                <a:solidFill>
                  <a:srgbClr val="01A88D"/>
                </a:solidFill>
              </a:defRPr>
            </a:pPr>
            <a:r>
              <a:t>— every tool call, LLM invocation, and decision traced end-to-end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Agentic Frameworks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8B98A5"/>
                </a:solidFill>
              </a:defRPr>
            </a:pPr>
            <a:r>
              <a:t>Choose the right framework for your agent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3474720" cy="137160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Strands Agents ⭐</a:t>
            </a:r>
            <a:br/>
            <a:r>
              <a:t>(AWS Native)</a:t>
            </a:r>
            <a:br/>
            <a:br/>
            <a:r>
              <a:t>Model-driven loop</a:t>
            </a:r>
            <a:br/>
            <a:r>
              <a:t>Python • Tool-use native</a:t>
            </a:r>
            <a:br/>
            <a:r>
              <a:t>AgentCore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737360"/>
            <a:ext cx="3474720" cy="13716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LangGraph</a:t>
            </a:r>
            <a:br/>
            <a:r>
              <a:t>(LangChain)</a:t>
            </a:r>
            <a:br/>
            <a:br/>
            <a:r>
              <a:t>Graph-based workflows</a:t>
            </a:r>
            <a:br/>
            <a:r>
              <a:t>Python/JS • Stateful</a:t>
            </a:r>
            <a:br/>
            <a:r>
              <a:t>Checkpointing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737360"/>
            <a:ext cx="3474720" cy="13716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CrewAI</a:t>
            </a:r>
            <a:br/>
            <a:br/>
            <a:r>
              <a:t>Role-based agents</a:t>
            </a:r>
            <a:br/>
            <a:r>
              <a:t>Python • Task delegation</a:t>
            </a:r>
            <a:br/>
            <a:r>
              <a:t>Hierarchical crews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3474720" cy="1371600"/>
          </a:xfrm>
          <a:prstGeom prst="roundRect">
            <a:avLst/>
          </a:prstGeom>
          <a:solidFill>
            <a:srgbClr val="05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AutoGen</a:t>
            </a:r>
            <a:br/>
            <a:r>
              <a:t>(Microsoft)</a:t>
            </a:r>
            <a:br/>
            <a:br/>
            <a:r>
              <a:t>Multi-agent conversations</a:t>
            </a:r>
            <a:br/>
            <a:r>
              <a:t>Python • Group chat</a:t>
            </a:r>
            <a:br/>
            <a:r>
              <a:t>Code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383280"/>
            <a:ext cx="3474720" cy="137160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Swarm</a:t>
            </a:r>
            <a:br/>
            <a:r>
              <a:t>(OpenAI)</a:t>
            </a:r>
            <a:br/>
            <a:br/>
            <a:r>
              <a:t>Lightweight handoffs</a:t>
            </a:r>
            <a:br/>
            <a:r>
              <a:t>Python • Function-based</a:t>
            </a:r>
            <a:br/>
            <a:r>
              <a:t>Agent transfer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383280"/>
            <a:ext cx="3474720" cy="1371600"/>
          </a:xfrm>
          <a:prstGeom prst="round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Bedrock Agents</a:t>
            </a:r>
            <a:br/>
            <a:r>
              <a:t>(AWS Managed)</a:t>
            </a:r>
            <a:br/>
            <a:br/>
            <a:r>
              <a:t>No-code/low-code</a:t>
            </a:r>
            <a:br/>
            <a:r>
              <a:t>Action groups • KB</a:t>
            </a:r>
            <a:br/>
            <a:r>
              <a:t>Fully managed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9900"/>
                </a:solidFill>
              </a:defRPr>
            </a:pPr>
            <a:r>
              <a:t>Why Strands for this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8E8E8"/>
                </a:solidFill>
              </a:defRPr>
            </a:pPr>
            <a:r>
              <a:t>✓ Native AgentCore deployment (agentcore deploy -y)</a:t>
            </a:r>
          </a:p>
          <a:p>
            <a:pPr>
              <a:spcAft>
                <a:spcPts val="600"/>
              </a:spcAft>
              <a:defRPr sz="1300">
                <a:solidFill>
                  <a:srgbClr val="E8E8E8"/>
                </a:solidFill>
              </a:defRPr>
            </a:pPr>
            <a:r>
              <a:t>✓ Model-driven agent loop with tool-use (no orchestration code needed)</a:t>
            </a:r>
          </a:p>
          <a:p>
            <a:pPr>
              <a:spcAft>
                <a:spcPts val="600"/>
              </a:spcAft>
              <a:defRPr sz="1300">
                <a:solidFill>
                  <a:srgbClr val="E8E8E8"/>
                </a:solidFill>
              </a:defRPr>
            </a:pPr>
            <a:r>
              <a:t>✓ Built-in OpenTelemetry instrumentation → CloudWatch Gen AI Observability</a:t>
            </a:r>
          </a:p>
          <a:p>
            <a:pPr>
              <a:spcAft>
                <a:spcPts val="600"/>
              </a:spcAft>
              <a:defRPr sz="1300">
                <a:solidFill>
                  <a:srgbClr val="E8E8E8"/>
                </a:solidFill>
              </a:defRPr>
            </a:pPr>
            <a:r>
              <a:t>✓ MCP client support for tool servers • Python-native • Lightweight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AWS Agent Hub —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1371600" cy="731520"/>
          </a:xfrm>
          <a:prstGeom prst="roundRect">
            <a:avLst/>
          </a:prstGeom>
          <a:solidFill>
            <a:srgbClr val="2F3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👤 User</a:t>
            </a:r>
            <a:br/>
            <a:r>
              <a:t>(Browser)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2286000"/>
            <a:ext cx="1371600" cy="73152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CloudFront</a:t>
            </a:r>
            <a:br/>
            <a:r>
              <a:t>(HTTPS)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188720"/>
            <a:ext cx="1371600" cy="640080"/>
          </a:xfrm>
          <a:prstGeom prst="roundRect">
            <a:avLst/>
          </a:prstGeom>
          <a:solidFill>
            <a:srgbClr val="3F8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S3</a:t>
            </a:r>
            <a:br/>
            <a:r>
              <a:t>(Frontend)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188720"/>
            <a:ext cx="1371600" cy="640080"/>
          </a:xfrm>
          <a:prstGeom prst="round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Cognito</a:t>
            </a:r>
            <a:br/>
            <a:r>
              <a:t>(JWT Auth)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286000"/>
            <a:ext cx="1554480" cy="731520"/>
          </a:xfrm>
          <a:prstGeom prst="roundRect">
            <a:avLst/>
          </a:prstGeom>
          <a:solidFill>
            <a:srgbClr val="E71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API Gateway</a:t>
            </a:r>
            <a:br/>
            <a:r>
              <a:t>(JWT Authorizer)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286000"/>
            <a:ext cx="1554480" cy="731520"/>
          </a:xfrm>
          <a:prstGeom prst="round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API Lambda</a:t>
            </a:r>
            <a:br/>
            <a:r>
              <a:t>(Kickoff +</a:t>
            </a:r>
            <a:br/>
            <a:r>
              <a:t>Status Poll)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188720"/>
            <a:ext cx="15544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DynamoDB</a:t>
            </a:r>
            <a:br/>
            <a:r>
              <a:t>(Task State)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286000"/>
            <a:ext cx="1554480" cy="731520"/>
          </a:xfrm>
          <a:prstGeom prst="round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Worker Lambda</a:t>
            </a:r>
            <a:br/>
            <a:r>
              <a:t>(Async Agent</a:t>
            </a:r>
            <a:br/>
            <a:r>
              <a:t>Execution)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828800"/>
            <a:ext cx="2011680" cy="731520"/>
          </a:xfrm>
          <a:prstGeom prst="round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Bedrock</a:t>
            </a:r>
            <a:br/>
            <a:r>
              <a:t>InvokeInlineAgent</a:t>
            </a:r>
            <a:br/>
            <a:r>
              <a:t>(Claude Sonnet 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834640"/>
            <a:ext cx="2011680" cy="73152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AgentCore Runtime</a:t>
            </a:r>
            <a:br/>
            <a:r>
              <a:t>(Strands Agents)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3840480"/>
            <a:ext cx="2011680" cy="640080"/>
          </a:xfrm>
          <a:prstGeom prst="round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CloudWatch</a:t>
            </a:r>
            <a:br/>
            <a:r>
              <a:t>Observability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931920"/>
            <a:ext cx="8686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8E8"/>
                </a:solidFill>
              </a:defRPr>
            </a:pPr>
            <a:r>
              <a:t>Async + Polling Pattern (production-ready):</a:t>
            </a:r>
          </a:p>
          <a:p>
            <a:pPr>
              <a:spcAft>
                <a:spcPts val="800"/>
              </a:spcAft>
              <a:defRPr sz="1200">
                <a:solidFill>
                  <a:srgbClr val="E8E8E8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8E8"/>
                </a:solidFill>
              </a:defRPr>
            </a:pPr>
            <a:r>
              <a:t>1. POST /api/invoke → API Lambda → stores task in DynamoDB → invokes Worker async → returns taskId (&lt; 1s)</a:t>
            </a:r>
          </a:p>
          <a:p>
            <a:pPr>
              <a:spcAft>
                <a:spcPts val="800"/>
              </a:spcAft>
              <a:defRPr sz="1200">
                <a:solidFill>
                  <a:srgbClr val="E8E8E8"/>
                </a:solidFill>
              </a:defRPr>
            </a:pPr>
            <a:r>
              <a:t>2. Client polls GET /api/status/{taskId} every 3s → reads DynamoDB → returns PENDING | RUNNING | COMPLETE</a:t>
            </a:r>
          </a:p>
          <a:p>
            <a:pPr>
              <a:spcAft>
                <a:spcPts val="800"/>
              </a:spcAft>
              <a:defRPr sz="1200">
                <a:solidFill>
                  <a:srgbClr val="E8E8E8"/>
                </a:solidFill>
              </a:defRPr>
            </a:pPr>
            <a:r>
              <a:t>3. Worker Lambda (5 min timeout) → AgentCore/InlineAgent → writes result to DynamoDB</a:t>
            </a:r>
          </a:p>
          <a:p>
            <a:pPr>
              <a:spcAft>
                <a:spcPts val="800"/>
              </a:spcAft>
              <a:defRPr sz="1200">
                <a:solidFill>
                  <a:srgbClr val="E8E8E8"/>
                </a:solidFill>
              </a:defRPr>
            </a:pPr>
            <a:r>
              <a:t>4. All traces flow to CloudWatch Gen AI Observability dashboard</a:t>
            </a:r>
          </a:p>
          <a:p>
            <a:pPr>
              <a:spcAft>
                <a:spcPts val="800"/>
              </a:spcAft>
              <a:defRPr sz="1200">
                <a:solidFill>
                  <a:srgbClr val="E8E8E8"/>
                </a:solidFill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E8E8E8"/>
                </a:solidFill>
              </a:defRPr>
            </a:pPr>
            <a:r>
              <a:t>✓ No timeout issues  ✓ JWT auth on every request  ✓ No public Lambda URLs  ✓ VPC-isolated workers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Multi-Agent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8B98A5"/>
                </a:solidFill>
              </a:defRPr>
            </a:pPr>
            <a:r>
              <a:t>Orchestrating specialized agents for complex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3474720" cy="2011680"/>
          </a:xfrm>
          <a:prstGeom prst="round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📊 Graph Pattern</a:t>
            </a:r>
            <a:br/>
            <a:br/>
            <a:r>
              <a:t>Agents as nodes, edges = transitions</a:t>
            </a:r>
            <a:br/>
            <a:r>
              <a:t>Conditional routing based on state</a:t>
            </a:r>
            <a:br/>
            <a:r>
              <a:t>Supports cycles &amp; backtracking</a:t>
            </a:r>
            <a:br/>
            <a:br/>
            <a:r>
              <a:t>Best for: Complex decision trees</a:t>
            </a:r>
            <a:br/>
            <a:r>
              <a:t>Framework: LangGraph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645920"/>
            <a:ext cx="3474720" cy="2011680"/>
          </a:xfrm>
          <a:prstGeom prst="round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🔄 Flow Pattern</a:t>
            </a:r>
            <a:br/>
            <a:br/>
            <a:r>
              <a:t>Sequential pipeline of agents</a:t>
            </a:r>
            <a:br/>
            <a:r>
              <a:t>Each agent transforms/enriches</a:t>
            </a:r>
            <a:br/>
            <a:r>
              <a:t>Deterministic execution order</a:t>
            </a:r>
            <a:br/>
            <a:br/>
            <a:r>
              <a:t>Best for: Document processing</a:t>
            </a:r>
            <a:br/>
            <a:r>
              <a:t>Framework: Step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2011680"/>
          </a:xfrm>
          <a:prstGeom prst="round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🐝 Swarm Pattern</a:t>
            </a:r>
            <a:br/>
            <a:br/>
            <a:r>
              <a:t>Agents hand off to each other</a:t>
            </a:r>
            <a:br/>
            <a:r>
              <a:t>Decentralized decision making</a:t>
            </a:r>
            <a:br/>
            <a:r>
              <a:t>Emergent collaboration</a:t>
            </a:r>
            <a:br/>
            <a:br/>
            <a:r>
              <a:t>Best for: Customer service routing</a:t>
            </a:r>
            <a:br/>
            <a:r>
              <a:t>Framework: OpenAI Swarm, CrewAI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9900"/>
                </a:solidFill>
              </a:defRPr>
            </a:pPr>
            <a:r>
              <a:t>vs. Standard Workflow (Step Functions):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⚙️  Step Functions = deterministic orchestration, explicit state machine, predictable cost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🤖  Agent patterns = dynamic routing, LLM-decided transitions, adaptive behavior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💡  Hybrid approach: Step Functions orchestrate specialized agents (best of both worlds)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1A88D"/>
                </a:solidFill>
              </a:defRPr>
            </a:pPr>
            <a:r>
              <a:t>Key insight: Use Step Functions for the FLOW, agents for the INTELLIGENCE within each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PRD → Multi-Agent Artifact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8B98A5"/>
                </a:solidFill>
              </a:defRPr>
            </a:pPr>
            <a:r>
              <a:t>Step Functions orchestrating specialized agents to generate artifacts from a PRD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828800" cy="1097280"/>
          </a:xfrm>
          <a:prstGeom prst="roundRect">
            <a:avLst/>
          </a:prstGeom>
          <a:solidFill>
            <a:srgbClr val="2F3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📄 PRD</a:t>
            </a:r>
            <a:br/>
            <a:r>
              <a:t>Document</a:t>
            </a:r>
            <a:br/>
            <a:r>
              <a:t>(Input)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463040"/>
            <a:ext cx="2011680" cy="4114800"/>
          </a:xfrm>
          <a:prstGeom prst="roundRect">
            <a:avLst/>
          </a:prstGeom>
          <a:solidFill>
            <a:srgbClr val="E71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Step Functions</a:t>
            </a:r>
            <a:br/>
            <a:r>
              <a:t>Orchestrator</a:t>
            </a:r>
            <a:br/>
            <a:br/>
            <a:r>
              <a:t>→ Parse PRD</a:t>
            </a:r>
            <a:br/>
            <a:r>
              <a:t>→ Fan-out</a:t>
            </a:r>
            <a:br/>
            <a:r>
              <a:t>→ Collect</a:t>
            </a:r>
            <a:br/>
            <a:r>
              <a:t>→ Merge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554480"/>
            <a:ext cx="1645920" cy="82296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🛡️ Security</a:t>
            </a:r>
            <a:br/>
            <a: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54480"/>
            <a:ext cx="2286000" cy="822960"/>
          </a:xfrm>
          <a:prstGeom prst="round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Threat model</a:t>
            </a:r>
            <a:br/>
            <a:r>
              <a:t>IAM policies</a:t>
            </a:r>
            <a:br/>
            <a:r>
              <a:t>Encryption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560320"/>
            <a:ext cx="1645920" cy="82296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🏗️ Infra</a:t>
            </a:r>
            <a:br/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560320"/>
            <a:ext cx="2286000" cy="822960"/>
          </a:xfrm>
          <a:prstGeom prst="round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Architecture</a:t>
            </a:r>
            <a:br/>
            <a:r>
              <a:t>IaC templates</a:t>
            </a:r>
            <a:br/>
            <a:r>
              <a:t>Cost estimate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566160"/>
            <a:ext cx="1645920" cy="82296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🔄 Resilience</a:t>
            </a:r>
            <a:br/>
            <a: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566160"/>
            <a:ext cx="2286000" cy="822960"/>
          </a:xfrm>
          <a:prstGeom prst="round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DR plan</a:t>
            </a:r>
            <a:br/>
            <a:r>
              <a:t>RTO/RPO</a:t>
            </a:r>
            <a:br/>
            <a:r>
              <a:t>Chaos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572000"/>
            <a:ext cx="1645920" cy="82296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🧪 QA</a:t>
            </a:r>
            <a:br/>
            <a:r>
              <a:t>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572000"/>
            <a:ext cx="2286000" cy="822960"/>
          </a:xfrm>
          <a:prstGeom prst="round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Test strategy</a:t>
            </a:r>
            <a:br/>
            <a:r>
              <a:t>Test cases</a:t>
            </a:r>
            <a:br/>
            <a:r>
              <a:t>CI/CD config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5577840"/>
            <a:ext cx="1645920" cy="82296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💻 Dev</a:t>
            </a:r>
            <a:br/>
            <a:r>
              <a:t>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577840"/>
            <a:ext cx="2286000" cy="822960"/>
          </a:xfrm>
          <a:prstGeom prst="round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8E8E8"/>
                </a:solidFill>
              </a:defRPr>
            </a:pPr>
            <a:r>
              <a:t>API contracts</a:t>
            </a:r>
            <a:br/>
            <a:r>
              <a:t>Code scaffolds</a:t>
            </a:r>
            <a:br/>
            <a:r>
              <a:t>DB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560320"/>
            <a:ext cx="2011680" cy="2011680"/>
          </a:xfrm>
          <a:prstGeom prst="round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8E8"/>
                </a:solidFill>
              </a:defRPr>
            </a:pPr>
            <a:r>
              <a:t>📦 Artifacts</a:t>
            </a:r>
            <a:br/>
            <a:br/>
            <a:r>
              <a:t>• Security report</a:t>
            </a:r>
            <a:br/>
            <a:r>
              <a:t>• IaC templates</a:t>
            </a:r>
            <a:br/>
            <a:r>
              <a:t>• DR runbook</a:t>
            </a:r>
            <a:br/>
            <a:r>
              <a:t>• Test suite</a:t>
            </a:r>
            <a:br/>
            <a:r>
              <a:t>• API specs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Observability with AgentCore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8B98A5"/>
                </a:solidFill>
              </a:defRPr>
            </a:pPr>
            <a:r>
              <a:t>End-to-end tracing of every agent decision, tool call, and LLM invocation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22860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Agent Invocation</a:t>
            </a:r>
            <a:br/>
            <a:r>
              <a:t>(Trace Root)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645920"/>
            <a:ext cx="2286000" cy="914400"/>
          </a:xfrm>
          <a:prstGeom prst="roundRect">
            <a:avLst/>
          </a:prstGeom>
          <a:solidFill>
            <a:srgbClr val="01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LLM Call</a:t>
            </a:r>
            <a:br/>
            <a:r>
              <a:t>(Model Span)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2286000" cy="914400"/>
          </a:xfrm>
          <a:prstGeom prst="round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Tool Execution</a:t>
            </a:r>
            <a:br/>
            <a:r>
              <a:t>(Tool Span)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2286000" cy="914400"/>
          </a:xfrm>
          <a:prstGeom prst="round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8E8E8"/>
                </a:solidFill>
              </a:defRPr>
            </a:pPr>
            <a:r>
              <a:t>Response</a:t>
            </a:r>
            <a:br/>
            <a:r>
              <a:t>(Output Span)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26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📊  CloudWatch Gen AI Dashboard — visualize agent conversations, latency, token usage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🔍  Trace Waterfall — see exactly which tools were called and in what order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⏱️  Latency Breakdown — identify bottlenecks (model inference vs tool execution)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💰  Cost Attribution — tokens per agent, per conversation, per tool call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🚨  Error Tracking — failed tool calls, model errors, timeout analysis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</a:defRPr>
            </a:pPr>
            <a:r>
              <a:t>📈  Custom Metrics — invocation count, success rate, response time P50/P95/P99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1A88D"/>
                </a:solidFill>
              </a:defRPr>
            </a:pPr>
            <a:r>
              <a:t>Zero instrumentation code required — AgentCore + Strands handle it automatically via OpenTelemetry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1.  AgentCore provides production-grade runtime for agents — deploy, scale, observe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2.  Strands Agents = simplest path from prototype to production on AWS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     (model-driven loop + native AgentCore deployment)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3.  Async + Polling pattern solves API Gateway timeout limits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     (Client → kickoff → poll for result — works with any agent duration)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4.  Multi-agent orchestration: use Step Functions for deterministic flow,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     agents for intelligence — hybrid pattern gives best reliability + flexibility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5.  Observability is not optional for production agents —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     AgentCore + OpenTelemetry gives you full visibility with zero code changes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6.  Framework choice matters less than architecture patterns —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</a:defRPr>
            </a:pPr>
            <a:r>
              <a:t>     Strands, LangGraph, CrewAI all work; pick based on deployment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8B98A5"/>
                </a:solidFill>
              </a:defRPr>
            </a:pPr>
            <a:r>
              <a:t>github.com/eranmaha/loki-examples/agentcore-research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